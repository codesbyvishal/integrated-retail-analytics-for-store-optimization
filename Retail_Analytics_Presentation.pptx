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1" autoAdjust="0"/>
    <p:restoredTop sz="94660"/>
  </p:normalViewPr>
  <p:slideViewPr>
    <p:cSldViewPr snapToGrid="0" snapToObjects="1">
      <p:cViewPr>
        <p:scale>
          <a:sx n="68" d="100"/>
          <a:sy n="68" d="100"/>
        </p:scale>
        <p:origin x="600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INTEGRATED RETAIL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7132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Store Optimization &amp;
Demand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DFDB"/>
                </a:solidFill>
                <a:latin typeface="Calibri"/>
              </a:rPr>
              <a:t>A complete analytics pipeline: EDA → Anomaly Detection → Segmentation → Market Basket Analysis → Demand Forecasting →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18688"/>
            <a:ext cx="29260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46E7A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75887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Vishal Kumar Singh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DFDB"/>
                </a:solidFill>
                <a:latin typeface="Calibri"/>
              </a:rPr>
              <a:t>AlmaBetter  |  M.Sc. Data Science  | 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1920240" cy="1554480"/>
          </a:xfrm>
          <a:prstGeom prst="roundRect">
            <a:avLst>
              <a:gd name="adj" fmla="val 6000"/>
            </a:avLst>
          </a:prstGeom>
          <a:solidFill>
            <a:srgbClr val="26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44475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214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Datasets
Sales · Stores ·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77271" y="1280160"/>
            <a:ext cx="1920240" cy="1554480"/>
          </a:xfrm>
          <a:prstGeom prst="roundRect">
            <a:avLst>
              <a:gd name="adj" fmla="val 6000"/>
            </a:avLst>
          </a:prstGeom>
          <a:solidFill>
            <a:srgbClr val="26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77271" y="144475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  <a:latin typeface="Calibri"/>
              </a:rPr>
              <a:t>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7271" y="21214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Retail Stores
Across Regions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108960"/>
            <a:ext cx="1920240" cy="1554480"/>
          </a:xfrm>
          <a:prstGeom prst="roundRect">
            <a:avLst>
              <a:gd name="adj" fmla="val 6000"/>
            </a:avLst>
          </a:prstGeom>
          <a:solidFill>
            <a:srgbClr val="26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327355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  <a:latin typeface="Calibri"/>
              </a:rPr>
              <a:t>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9502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Departments
Analysed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77271" y="3108960"/>
            <a:ext cx="1920240" cy="1554480"/>
          </a:xfrm>
          <a:prstGeom prst="roundRect">
            <a:avLst>
              <a:gd name="adj" fmla="val 6000"/>
            </a:avLst>
          </a:prstGeom>
          <a:solidFill>
            <a:srgbClr val="26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7271" y="327355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1" y="39502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ML / Stats
Models Built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5765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29062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9307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31135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Project Overview &amp; Business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759414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82342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84171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Dataset Overview — 3 Files, 421K+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289766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5377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37206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EDA: Time Trends, Store, Department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20118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884126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02414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EDA: Markdown, Correlation &amp; Key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350470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41447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3276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Data Preprocessing — Imputation, Scaling, Transformation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880822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94483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6311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Anomaly Detection — Isolation Forest + Rolling Stats + EWMA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411174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47518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9347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Customer Segmentation — PCA + KMeans (K=4)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941526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00553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2382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Market Basket Analysis — Apriori Algorithm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471878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535886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554174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Demand Forecasting — SARIMAX, Holt-Winters, Random Forest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6002230"/>
            <a:ext cx="438912" cy="402336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606623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608452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Model Comparison, External Factors &amp;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 &amp; Business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Apply machine learning and analytics on real retail chain data to improve store performance, forecast demand, and generate personalised inventory and marketing strategies.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6-phase ML pipeline: EDA → Preprocessing → Anomaly Detection → Segmentation → MBA → Forecasting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206654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F58"/>
                </a:solidFill>
                <a:latin typeface="Calibri"/>
              </a:rPr>
              <a:t>The Business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414016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A retail chain with 45 stores and 99 departments generates weekly sales data across multiple years, but without structured analytics, managers cannot answer: Which stores are underperforming and why? When to run markdowns? How much stock to order 3 months from now? This project builds a data-driven system that answers all of these.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296755"/>
            <a:ext cx="2770632" cy="80252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296755"/>
            <a:ext cx="2743200" cy="73152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388195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1. 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4422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Identify trends, seasonality &amp; drivers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154138"/>
            <a:ext cx="2770632" cy="769709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154139"/>
            <a:ext cx="274320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245579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2. 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0161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Handle nulls, outliers &amp; transformations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051863"/>
            <a:ext cx="2770632" cy="847709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051864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14330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3. Anomaly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993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Flag unusual sales events (Isolation Forest, Rolling, EWMA)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2296755"/>
            <a:ext cx="2770632" cy="80252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25712" y="2296755"/>
            <a:ext cx="274320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7152" y="2388195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4. 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264422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Cluster stores &amp; departments (PCA + KMeans)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5712" y="3154138"/>
            <a:ext cx="2743200" cy="769709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25712" y="3154139"/>
            <a:ext cx="2743200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17152" y="3245579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  <a:latin typeface="Calibri"/>
              </a:rPr>
              <a:t>5. Market Basket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350161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Mine cross-selling associations (Apriori)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25712" y="4051863"/>
            <a:ext cx="2770632" cy="884284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25712" y="4051864"/>
            <a:ext cx="2743200" cy="731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17152" y="414330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C00"/>
                </a:solidFill>
                <a:latin typeface="Calibri"/>
              </a:rPr>
              <a:t>6. Forecasting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43993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Predict 2013 weekly sales (SARIMAX, Holt-Winters, RF)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Three interconnected CSV files — 421,570 total records across 45 stores, 99 departments, 143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261872"/>
            <a:ext cx="3749039" cy="504748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261872"/>
            <a:ext cx="3749039" cy="54864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29844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sales data-set.csv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609344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421,570 rows × 5 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192024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Store — store ID (1–45)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28600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Dept — department ID (1–99)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65176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Date — weekly date (2010–2012)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01752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Weekly_Sales — revenue for that week (TARGET)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38328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IsHoliday — promotional week flag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5824728"/>
            <a:ext cx="3648452" cy="380283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" y="5843017"/>
            <a:ext cx="35478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Primary target: Weekly_Sales
Holiday weeks weighted 5× in 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79" y="1261872"/>
            <a:ext cx="3749039" cy="504748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69079" y="1261872"/>
            <a:ext cx="3749039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19" y="129844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stores data-set.csv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19" y="1609344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45 rows × 3 cols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7" y="192024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Store — unique store number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807" y="228600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Type — category (A / B / 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807" y="265176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Size — physical area in sq 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42231" y="5824728"/>
            <a:ext cx="3584447" cy="380283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78807" y="5843017"/>
            <a:ext cx="35478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Type A = largest stores, highest avg sales
Type C = smallest, most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8" y="1261872"/>
            <a:ext cx="3749039" cy="504748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78" y="1261872"/>
            <a:ext cx="3749039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8" y="129844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Features data set.csv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8" y="1609344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8,190 rows × 12 cols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6" y="192024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Store, Date — join keys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6" y="228600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Temperature — regional weekly temp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6" y="265176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Fuel_Price — weekly fuel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6" y="301752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MarkDown1–5 — promotional discount amounts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6" y="338328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CPI — Consumer Price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6" y="374904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Unemployment — regional 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8430" y="5824728"/>
            <a:ext cx="3675887" cy="38028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65006" y="5843017"/>
            <a:ext cx="35478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FFFFFF"/>
                </a:solidFill>
                <a:latin typeface="Calibri"/>
              </a:rPr>
              <a:t>60–70% nulls in </a:t>
            </a:r>
            <a:r>
              <a:rPr sz="950" b="1" i="0" dirty="0" err="1">
                <a:solidFill>
                  <a:srgbClr val="FFFFFF"/>
                </a:solidFill>
                <a:latin typeface="Calibri"/>
              </a:rPr>
              <a:t>MarkDown</a:t>
            </a:r>
            <a:r>
              <a:rPr sz="950" b="1" i="0" dirty="0">
                <a:solidFill>
                  <a:srgbClr val="FFFFFF"/>
                </a:solidFill>
                <a:latin typeface="Calibri"/>
              </a:rPr>
              <a:t> cols
(no promotion = no markdown value)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" y="626417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546E7A"/>
                </a:solidFill>
                <a:latin typeface="Calibri"/>
              </a:rPr>
              <a:t>All 3 files join on Store + Date keys.  </a:t>
            </a:r>
            <a:r>
              <a:rPr sz="1100" b="0" i="1" dirty="0" err="1">
                <a:solidFill>
                  <a:srgbClr val="546E7A"/>
                </a:solidFill>
                <a:latin typeface="Calibri"/>
              </a:rPr>
              <a:t>IsHoliday</a:t>
            </a:r>
            <a:r>
              <a:rPr sz="1100" b="0" i="1" dirty="0">
                <a:solidFill>
                  <a:srgbClr val="546E7A"/>
                </a:solidFill>
                <a:latin typeface="Calibri"/>
              </a:rPr>
              <a:t> marks Super Bowl, </a:t>
            </a:r>
            <a:r>
              <a:rPr sz="1100" b="0" i="1" dirty="0" err="1">
                <a:solidFill>
                  <a:srgbClr val="546E7A"/>
                </a:solidFill>
                <a:latin typeface="Calibri"/>
              </a:rPr>
              <a:t>Labour</a:t>
            </a:r>
            <a:r>
              <a:rPr sz="1100" b="0" i="1" dirty="0">
                <a:solidFill>
                  <a:srgbClr val="546E7A"/>
                </a:solidFill>
                <a:latin typeface="Calibri"/>
              </a:rPr>
              <a:t> Day, Thanksgiving &amp; Christmas — these weeks must be forecast accurately (5× weight in RMSE evaluation).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EDA — Weekly Sales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Understand how sales vary over time and identify seasonal peaks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Identify seasonal sales patterns, holiday effects, and year-over-year trends that will drive preprocessing and forecasting model choices.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 err="1">
                <a:solidFill>
                  <a:srgbClr val="1D4F58"/>
                </a:solidFill>
                <a:latin typeface="Calibri"/>
              </a:rPr>
              <a:t>groupBy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('Date').sum('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Weekly_Sales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') → line chart; grouped by year and month for bar</a:t>
            </a:r>
            <a:endParaRPr lang="en-US" sz="1150" b="1" i="0" dirty="0">
              <a:solidFill>
                <a:srgbClr val="1D4F58"/>
              </a:solidFill>
              <a:latin typeface="Calibri"/>
            </a:endParaRPr>
          </a:p>
          <a:p>
            <a:pPr algn="l"/>
            <a:r>
              <a:rPr sz="1150" b="1" i="0" dirty="0">
                <a:solidFill>
                  <a:srgbClr val="1D4F58"/>
                </a:solidFill>
                <a:latin typeface="Calibri"/>
              </a:rPr>
              <a:t> charts;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IsHoliday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 flag overlaid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552" y="2201686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2413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524819"/>
            <a:ext cx="64922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643691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671123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643691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Holiday Sales Surge: +20% in Nov–Dec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18011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Weekly sales spike approximately 20% during November–December driven by Black Friday, Thanksgiving and Christmas. IsHoliday=True weeks are consistently the highest-value records across all 3 years.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487051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514483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87051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Post-Holiday January Dip: –15%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61371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Sales drop sharply (~15%) in January after the holiday season as consumer discretionary spending recovers. This creates a predictable seasonal cycle that forecasting models must capture.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246003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73435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46003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November Pre-Holiday Valley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20323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November shows a temporary dip before the Thanksgiving/Black Friday surge — customers deliberately delay purchases, creating a 'calm before the storm' pattern in the data.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004955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032387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04955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Dec 2013 Data Incomplete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79275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212121"/>
                </a:solidFill>
                <a:latin typeface="Calibri"/>
              </a:rPr>
              <a:t>The December 2013 data appears truncated — a surge is visible but totals are lower than prior years, suggesting partial recording rather than an actual sales decline.</a:t>
            </a:r>
          </a:p>
        </p:txBody>
      </p:sp>
      <p:pic>
        <p:nvPicPr>
          <p:cNvPr id="34" name="Picture 33" descr="out_2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24" y="1664208"/>
            <a:ext cx="4590288" cy="477799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12800" y="6131052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1: </a:t>
            </a:r>
            <a:r>
              <a:rPr sz="950" b="0" i="1" dirty="0" err="1">
                <a:solidFill>
                  <a:srgbClr val="546E7A"/>
                </a:solidFill>
                <a:latin typeface="Calibri"/>
              </a:rPr>
              <a:t>Weekly_Sales</a:t>
            </a:r>
            <a:r>
              <a:rPr sz="950" b="0" i="1" dirty="0">
                <a:solidFill>
                  <a:srgbClr val="546E7A"/>
                </a:solidFill>
                <a:latin typeface="Calibri"/>
              </a:rPr>
              <a:t> over time (2010–2013) — Nov–Dec holiday spikes repeat every year; Jan troughs follow each surge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EDA — Yearly &amp; Monthly Sales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Quantify YoY growth and monthly concentration of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Determine whether the business is growing year-over-year and which months concentrate the most revenue — critical inputs for inventory planning cycles.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groupBy(year) and groupBy(month) aggregations of Weekly_Sales; sns.barplot for both; holiday flag overlaid on monthly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2012 was the peak revenue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Total yearly sales were highest in 2012 across all 45 stores. 2011 showed strong growth from 2010; 2013 data is partial (truncated Dec) making full-year comparison misleading.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1224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3967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1224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Nov–Dec account for ~28% of annual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8656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Only 8 of 52 weeks (Nov–Dec) generate approximately 28% of annual total sales. This concentration makes holiday forecasting disproportionately important for business planning.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18373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111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8373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June–September is the stable baseline period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58056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212121"/>
                </a:solidFill>
                <a:latin typeface="Calibri"/>
              </a:rPr>
              <a:t>Summer months (Jun–Sep) show the lowest and most consistent sales — minimal markdown activity and no holiday effects create a predictable baseline useful for model calibration.</a:t>
            </a:r>
          </a:p>
        </p:txBody>
      </p:sp>
      <p:pic>
        <p:nvPicPr>
          <p:cNvPr id="30" name="Picture 29" descr="out_2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800" y="2089404"/>
            <a:ext cx="4895268" cy="207968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47557" y="4133088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2: Yearly total sales — 2012 peak; 2013 appears lower due to incomplete Dec data</a:t>
            </a:r>
          </a:p>
        </p:txBody>
      </p:sp>
      <p:pic>
        <p:nvPicPr>
          <p:cNvPr id="32" name="Picture 31" descr="out_2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885" y="4290531"/>
            <a:ext cx="4688183" cy="20683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28370" y="6247198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Calibri"/>
              </a:rPr>
              <a:t>Fig 3: Monthly sales — Nov and Dec clearly dominate; Jan dip and stable summer period both visible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EDA — Store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Identify which stores drive revenue and which are underperforming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Rank all 45 stores by total weekly sales to identify top performers and laggards — this will inform cluster segmentation and targeted strategy.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groupBy('Store').sum('Weekly_Sales') → sorted bar chart; compared against store Type and Size attributes from stores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64922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Stores 20 &amp; 4 are the top earners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Stores 20 and 4 consistently rank first and second across all analysed years. Both are Type A stores with large physical footprints — confirming that store size and type are the primary structural drivers of revenue.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295067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22499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95067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Stores 44, 33, 3 &amp; 5 are the lowest earners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69387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These four stores generate the least weekly sales. Further analysis confirms they are predominantly Type C (smallest category) with lower CPI zones — suggesting different customer demographics.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12125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14868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21254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Store performance gap: top 5 vs bottom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95574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top 5 stores by total sales generate approximately 3× the revenue of the bottom 5 — a significant concentration risk for the retail chain that targeted strategies must address.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488020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490763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80206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Type A &amp; B show ~5% annual sales decline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54526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Despite being the highest earners in absolute terms, Type A and B stores show a gradual ~5% year-over-year revenue decline — suggesting market saturation or competitive pressure in their regions.</a:t>
            </a:r>
          </a:p>
        </p:txBody>
      </p:sp>
      <p:pic>
        <p:nvPicPr>
          <p:cNvPr id="34" name="Picture 33" descr="out_42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353" y="2219023"/>
            <a:ext cx="4581271" cy="38464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69353" y="6070002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4: Weekly sales by store — Stores 20 &amp; 4 clearly lead; Stores 44 &amp; 33 are the lowest performers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EDA — Store Type &amp; Department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Understand which store categories and departments generate the most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Analyse how store type (A/B/C) and department number relate to weekly sales — to guide cluster strategy and prioritise high-value departments.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groupBy('Type').sum() and groupBy('Dept').sum() aggregations; bar charts for both; Type characteristics from stores file merged on Store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Type A dominates total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Type A stores have the largest footprints and generate the highest absolute sales. Type B is mid-range. Type C, while smallest per store, shows the most stable year-round performance — ideal for benchmarking baseline demand.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3540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6284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354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Type C is small but most stable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0972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Type C stores show very consistent (low-variance) weekly sales with minimal holiday spike effects — useful as a stable baseline and model calibration reference.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09436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12179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9436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Depts 1–15, 38, 40, 72, 90–95 earn 25% above average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6868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A small subset of departments generate disproportionately high weekly sales — approximately 25% above the departmental mean. These are the departments that need priority inventory management and markdown optimisation.</a:t>
            </a:r>
          </a:p>
        </p:txBody>
      </p:sp>
      <p:pic>
        <p:nvPicPr>
          <p:cNvPr id="30" name="Picture 29" descr="out_45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860" y="2061733"/>
            <a:ext cx="5233058" cy="220609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67860" y="4160607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5: Sales by store type — Type A highest; Type C smallest but most stable year-round</a:t>
            </a:r>
          </a:p>
        </p:txBody>
      </p:sp>
      <p:pic>
        <p:nvPicPr>
          <p:cNvPr id="32" name="Picture 31" descr="out_48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788" y="4400375"/>
            <a:ext cx="4468548" cy="19568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36208" y="6291072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Calibri"/>
              </a:rPr>
              <a:t>Fig 6: Department sales — Depts 1–15 and select higher-numbered depts clearly outperform the average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EDA — Economic Indicators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Understand how CPI, unemployment, fuel price and temperature evolved during the study period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365683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402259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 dirty="0">
                <a:solidFill>
                  <a:srgbClr val="546E7A"/>
                </a:solidFill>
                <a:latin typeface="Calibri"/>
              </a:rPr>
              <a:t>Track macro-economic conditions across 2010–2012 to understand the </a:t>
            </a:r>
            <a:endParaRPr lang="en-US" sz="1150" b="0" i="1" dirty="0">
              <a:solidFill>
                <a:srgbClr val="546E7A"/>
              </a:solidFill>
              <a:latin typeface="Calibri"/>
            </a:endParaRPr>
          </a:p>
          <a:p>
            <a:pPr algn="l"/>
            <a:r>
              <a:rPr sz="1150" b="0" i="1" dirty="0">
                <a:solidFill>
                  <a:srgbClr val="546E7A"/>
                </a:solidFill>
                <a:latin typeface="Calibri"/>
              </a:rPr>
              <a:t>economic context in which retail sales occurred —</a:t>
            </a:r>
            <a:endParaRPr lang="en-US" sz="1150" b="0" i="1" dirty="0">
              <a:solidFill>
                <a:srgbClr val="546E7A"/>
              </a:solidFill>
              <a:latin typeface="Calibri"/>
            </a:endParaRPr>
          </a:p>
          <a:p>
            <a:pPr algn="l"/>
            <a:r>
              <a:rPr sz="1150" b="0" i="1" dirty="0">
                <a:solidFill>
                  <a:srgbClr val="546E7A"/>
                </a:solidFill>
                <a:latin typeface="Calibri"/>
              </a:rPr>
              <a:t> these will later become exogenous variables in SARIMAX forecasting.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2093974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213055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9661" y="2066812"/>
            <a:ext cx="10177272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 err="1">
                <a:solidFill>
                  <a:srgbClr val="1D4F58"/>
                </a:solidFill>
                <a:latin typeface="Calibri"/>
              </a:rPr>
              <a:t>groupBy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('Date') aggregation for CPI, Unemployment,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Fuel_Price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,</a:t>
            </a:r>
            <a:endParaRPr lang="en-US" sz="1150" b="1" i="0" dirty="0">
              <a:solidFill>
                <a:srgbClr val="1D4F58"/>
              </a:solidFill>
              <a:latin typeface="Calibri"/>
            </a:endParaRPr>
          </a:p>
          <a:p>
            <a:pPr algn="l"/>
            <a:r>
              <a:rPr sz="1150" b="1" i="0" dirty="0">
                <a:solidFill>
                  <a:srgbClr val="1D4F58"/>
                </a:solidFill>
                <a:latin typeface="Calibri"/>
              </a:rPr>
              <a:t> Temperature from the features dataset; individual trend line plots</a:t>
            </a:r>
            <a:endParaRPr lang="en-US" sz="1150" b="1" i="0" dirty="0">
              <a:solidFill>
                <a:srgbClr val="1D4F58"/>
              </a:solidFill>
              <a:latin typeface="Calibri"/>
            </a:endParaRPr>
          </a:p>
          <a:p>
            <a:pPr algn="l"/>
            <a:r>
              <a:rPr sz="1150" b="1" i="0" dirty="0">
                <a:solidFill>
                  <a:srgbClr val="1D4F58"/>
                </a:solidFill>
                <a:latin typeface="Calibri"/>
              </a:rPr>
              <a:t> per indicator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970182"/>
            <a:ext cx="5888736" cy="4733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6582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183722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330259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333002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0259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Unemployment: gradual decline 2010–2012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7691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212121"/>
                </a:solidFill>
                <a:latin typeface="Calibri"/>
              </a:rPr>
              <a:t>Unemployment decreased gradually from 2010 through 2012 — reflecting improving economic conditions that increased consumer purchasing power. However, this improvement shows weak direct correlation with weekly sales.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416912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4196554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6912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CPI: steady increase — rising inflation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43442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Consumer Price Index increased steadily throughout 2010–2012, signalling gradual inflation. Higher CPI means consumers pay more for the same basket of goods, potentially shifting spending toward value/discount departments.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5049097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5076529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49097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Fuel: stable 2010, then rising through 2012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23417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Fuel prices were stable Jan–Dec 2010, then rose significantly through 2012. Rising fuel costs signal broader economic pressure — relevant to consumer mobility and regional shopping patterns.</a:t>
            </a:r>
          </a:p>
        </p:txBody>
      </p:sp>
      <p:pic>
        <p:nvPicPr>
          <p:cNvPr id="30" name="Picture 29" descr="out_3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261872"/>
            <a:ext cx="5596128" cy="15727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36208" y="2852928"/>
            <a:ext cx="5596128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7: Unemployment trend — gradual decline 2010–2012 (improving economy)</a:t>
            </a:r>
          </a:p>
        </p:txBody>
      </p:sp>
      <p:pic>
        <p:nvPicPr>
          <p:cNvPr id="32" name="Picture 31" descr="out_35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035808"/>
            <a:ext cx="5596128" cy="15727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36208" y="4626864"/>
            <a:ext cx="5596128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Calibri"/>
              </a:rPr>
              <a:t>Fig 8: CPI trend — steady inflation increase across study period</a:t>
            </a:r>
          </a:p>
        </p:txBody>
      </p:sp>
      <p:pic>
        <p:nvPicPr>
          <p:cNvPr id="34" name="Picture 33" descr="out_38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4773168"/>
            <a:ext cx="5596128" cy="15727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36208" y="6364224"/>
            <a:ext cx="5596128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Calibri"/>
              </a:rPr>
              <a:t>Fig 9: Fuel price — stable in 2010, rising significantly through 2011–2012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EDA — Markdown Trends &amp; Correlation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Understand promotional markdown patterns and relationships between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 dirty="0" err="1">
                <a:solidFill>
                  <a:srgbClr val="546E7A"/>
                </a:solidFill>
                <a:latin typeface="Calibri"/>
              </a:rPr>
              <a:t>Analyse</a:t>
            </a:r>
            <a:r>
              <a:rPr sz="1150" b="0" i="1" dirty="0">
                <a:solidFill>
                  <a:srgbClr val="546E7A"/>
                </a:solidFill>
                <a:latin typeface="Calibri"/>
              </a:rPr>
              <a:t> how markdown promotional discounts vary across time and store</a:t>
            </a:r>
            <a:endParaRPr lang="en-US" sz="1150" b="0" i="1" dirty="0">
              <a:solidFill>
                <a:srgbClr val="546E7A"/>
              </a:solidFill>
              <a:latin typeface="Calibri"/>
            </a:endParaRPr>
          </a:p>
          <a:p>
            <a:pPr algn="l"/>
            <a:r>
              <a:rPr sz="1150" b="0" i="1" dirty="0">
                <a:solidFill>
                  <a:srgbClr val="546E7A"/>
                </a:solidFill>
                <a:latin typeface="Calibri"/>
              </a:rPr>
              <a:t> types, and compute feature correlations to identify which variables most</a:t>
            </a:r>
            <a:endParaRPr lang="en-US" sz="1150" b="0" i="1" dirty="0">
              <a:solidFill>
                <a:srgbClr val="546E7A"/>
              </a:solidFill>
              <a:latin typeface="Calibri"/>
            </a:endParaRPr>
          </a:p>
          <a:p>
            <a:pPr algn="l"/>
            <a:r>
              <a:rPr sz="1150" b="0" i="1" dirty="0">
                <a:solidFill>
                  <a:srgbClr val="546E7A"/>
                </a:solidFill>
                <a:latin typeface="Calibri"/>
              </a:rPr>
              <a:t> influence </a:t>
            </a:r>
            <a:r>
              <a:rPr sz="1150" b="0" i="1" dirty="0" err="1">
                <a:solidFill>
                  <a:srgbClr val="546E7A"/>
                </a:solidFill>
                <a:latin typeface="Calibri"/>
              </a:rPr>
              <a:t>Weekly_Sales</a:t>
            </a:r>
            <a:r>
              <a:rPr sz="1150" b="0" i="1" dirty="0">
                <a:solidFill>
                  <a:srgbClr val="546E7A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932610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96918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946595"/>
            <a:ext cx="1017727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 err="1">
                <a:solidFill>
                  <a:srgbClr val="1D4F58"/>
                </a:solidFill>
                <a:latin typeface="Calibri"/>
              </a:rPr>
              <a:t>groupBy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('Date').mean() for MarkDown1–5;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groupBy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('Type').mean() </a:t>
            </a:r>
            <a:endParaRPr lang="en-US" sz="1150" b="1" i="0" dirty="0">
              <a:solidFill>
                <a:srgbClr val="1D4F58"/>
              </a:solidFill>
              <a:latin typeface="Calibri"/>
            </a:endParaRPr>
          </a:p>
          <a:p>
            <a:pPr algn="l"/>
            <a:r>
              <a:rPr sz="1150" b="1" i="0" dirty="0">
                <a:solidFill>
                  <a:srgbClr val="1D4F58"/>
                </a:solidFill>
                <a:latin typeface="Calibri"/>
              </a:rPr>
              <a:t>for type comparison;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sns.heatmap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corr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(spearman)) for correlation matrix</a:t>
            </a:r>
            <a:endParaRPr lang="en-US" sz="1150" b="1" i="0" dirty="0">
              <a:solidFill>
                <a:srgbClr val="1D4F58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0332" y="2350949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389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672736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79160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81904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916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MarkDown3 peaks in November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6592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Markdown3 reaches its highest value in November — exactly when stores run pre-Thanksgiving promotions. This confirms markdowns are deliberately timed around major shopping events, not random.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725371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752803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25371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Types A/B use Markdown1 most; Type C uses Markdown5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99691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Type A and B stores deploy Markdown1 (their primary promotional discount) most heavily. Type C relies more on Markdown5 — a different discount mechanism reflecting their smaller, value-focused strategy.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591899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619331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91899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Weekly_Sales has weak direct correlation with macro indicators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66219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correlation heatmap reveals that CPI (–0.12) and Unemployment (–0.08) have very weak direct correlations with Weekly_Sales. The relationship is non-linear and context-dependent, which is why Random Forest outperforms linear models for forecasting.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592897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620329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92897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CPI &amp; Unemployment are strongly negatively correlated (–0.74)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67217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CPI and Unemployment move in opposite directions — rising inflation coincides with falling unemployment in this period. Fuel_Price and CPI show strong positive correlation (+0.82), confirming a shared inflation cycle.</a:t>
            </a:r>
          </a:p>
        </p:txBody>
      </p:sp>
      <p:pic>
        <p:nvPicPr>
          <p:cNvPr id="34" name="Picture 33" descr="out_54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261872"/>
            <a:ext cx="5596128" cy="23774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36208" y="3657600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Calibri"/>
              </a:rPr>
              <a:t>Fig 10: Markdown by store type — Type A/B deploy Markdown1 most; Type C uses Markdown5</a:t>
            </a:r>
          </a:p>
        </p:txBody>
      </p:sp>
      <p:pic>
        <p:nvPicPr>
          <p:cNvPr id="36" name="Picture 35" descr="out_56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840480"/>
            <a:ext cx="5596128" cy="2487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36208" y="6184572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Calibri"/>
              </a:rPr>
              <a:t>Fig 11: Spearman correlation heatmap — CPI/Unemployment strongly negatively correlated; Weekly_Sales weakly correlated with all macro indicators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Preprocessing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Clean, transform and scale data before modelling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Resolve data quality issues (nulls, outliers, skewness) and engineer features that improve model performance — making the dataset ready for clustering, anomaly detection, and forecasting.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Pandas imputation, IQR capping, sqrt transformation, StandardScaler, datetime decomposition, 3-file merge on Store+Date keys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042339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2238129"/>
            <a:ext cx="5774372" cy="1270478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238129"/>
            <a:ext cx="5760720" cy="73152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" y="2375289"/>
            <a:ext cx="2743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37528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40272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Missing Value Imputation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2713617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ISSUE: MarkDown1–5 columns had 60–70% null values (no promotion = no markdown logged).
ACTION: Imputed with column median to preserve distribution shape.
RESULT: All nulls resolved; 'IsMarkdown' binary flag added to distinguish promo vs. non-promo weeks.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238129"/>
            <a:ext cx="5687568" cy="1314584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238129"/>
            <a:ext cx="576072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55080" y="2375289"/>
            <a:ext cx="274320" cy="274320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37528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40272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Outlier Treatment — IQR Capping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713617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ISSUE: MarkDown features showed 5–8% outlier records (confirmed by box plots with extreme right tails).
ACTION: Applied IQR-based capping at 1.5× threshold — values beyond Q3+1.5×IQR capped to Q3+1.5×IQR.
RESULT: Outlier records reduced to &lt;1%; distribution shape preserved.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3644153"/>
            <a:ext cx="5760720" cy="1243584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644153"/>
            <a:ext cx="5760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11480" y="3781313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78131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80874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Square Root Transformation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4119641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ISSUE: Weekly_Sales showed right-skewed distribution (skewness confirmed analytically).
ACTION: Applied √(Weekly_Sales) transformation (Sales_sqrt) to reduce skewness.
RESULT: Skewness reduced significantly; SARIMAX residuals closer to normality.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644153"/>
            <a:ext cx="5760720" cy="1266176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3644153"/>
            <a:ext cx="576072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55080" y="3781313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378131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80874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StandardScaler Normalisation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4119641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ISSUE: Size (sq ft), CPI, Unemployment, Fuel_Price operate on very different scales — KMeans distance is scale-sensitive.
ACTION: StandardScaler applied to all numeric features before clustering.
RESULT: All features on same scale; KMeans clusters not dominated by high-variance variables.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5023283"/>
            <a:ext cx="5774372" cy="1261066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5023283"/>
            <a:ext cx="5760720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11480" y="5160443"/>
            <a:ext cx="274320" cy="274320"/>
          </a:xfrm>
          <a:prstGeom prst="roundRect">
            <a:avLst>
              <a:gd name="adj" fmla="val 6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51604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8787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  <a:latin typeface="Calibri"/>
              </a:rPr>
              <a:t>DateTime Decomposition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" y="5498771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ISSUE: Date column in string format; temporal patterns (month, year) not accessible as numeric features.
ACTION: Converted to datetime64[ns]; extracted month, year, day-of-week as separate columns.
RESULT: Temporal features available for SARIMAX seasonal components and RF feature set.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5023283"/>
            <a:ext cx="5760720" cy="129307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63640" y="5023283"/>
            <a:ext cx="5760720" cy="731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355080" y="5160443"/>
            <a:ext cx="274320" cy="274320"/>
          </a:xfrm>
          <a:prstGeom prst="roundRect">
            <a:avLst>
              <a:gd name="adj" fmla="val 6000"/>
            </a:avLst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55080" y="51604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518787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C00"/>
                </a:solidFill>
                <a:latin typeface="Calibri"/>
              </a:rPr>
              <a:t>3-File Dataset Merge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5498771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ISSUE: Sales (421K rows), Stores (45 rows), Features (8K rows) are separate files at different granularities.
ACTION: Sales LEFT JOIN Stores on Store; result LEFT JOIN Features on Store+Date.
RESULT: Single analytical DataFrame — all sales, store attributes, and economic indicators in one 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Preprocessing — Visual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Notebook outputs showing distribution before &amp; after treatment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Validate that preprocessing steps (outlier capping, sqrt transformation, normalisation) actually improved data quality — compare before and after distributions.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sns.histplot and sns.boxplot on MarkDown features and Weekly_Sales before and after IQR capping and sqrt transformation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MarkDown distributions: right-skewed, outliers present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Pre-treatment histograms confirm right-skewed MarkDown distributions with extreme outliers in the upper tail. Box plots show ~5–8% records beyond 1.5× IQR — confirming the need for capping.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3540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6284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354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After IQR capping: distributions normalised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0972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Post-treatment box plots show tight distributions with minimal extreme values. The overall shape is preserved — we removed pathological outliers, not genuine high-sales events.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20193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293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0193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Sales_sqrt: skewness reduced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76256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square root transformation successfully reduced Weekly_Sales skewness. The histogram after transformation shows a more symmetric distribution — improving SARIMAX residual normality.</a:t>
            </a:r>
          </a:p>
        </p:txBody>
      </p:sp>
      <p:pic>
        <p:nvPicPr>
          <p:cNvPr id="32" name="Picture 31" descr="out_8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418320"/>
            <a:ext cx="6104965" cy="28029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80760" y="5586984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13: </a:t>
            </a:r>
            <a:r>
              <a:rPr sz="950" b="0" i="1" dirty="0" err="1">
                <a:solidFill>
                  <a:srgbClr val="546E7A"/>
                </a:solidFill>
                <a:latin typeface="Calibri"/>
              </a:rPr>
              <a:t>Sales_sqrt</a:t>
            </a:r>
            <a:r>
              <a:rPr sz="950" b="0" i="1" dirty="0">
                <a:solidFill>
                  <a:srgbClr val="546E7A"/>
                </a:solidFill>
                <a:latin typeface="Calibri"/>
              </a:rPr>
              <a:t> distribution — sqrt transformation reduces right skewness; distribution closer to symmetric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Anomaly Detection — 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Detect unusual weekly sales events using 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Identify weekly sales records that deviate significantly from the normal pattern — without assuming any specific distribution or requiring labelled anomaly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IsolationForest(n_estimators=100, contamination=0.05) from sklearn on normalised Weekly_Sales + features; anomalies flagged where prediction == –1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" y="2057400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64922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How Isolation Forest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algorithm randomly partitions the feature space using decision trees. Records that require fewer splits to isolate are more anomalous — they are 'isolated' earlier. No assumption about normality is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21961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49393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21961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Holiday weeks cluster as top anomalies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96281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model flagged IsHoliday=True weeks as the dominant source of high-value anomalies. This is structurally correct — holiday weeks have genuinely different sales behaviour, not data errors. The algorithm distinguished signal from noise.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17504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02474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75042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Contamination parameter = 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49362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Setting contamination=0.05 means the model expects 5% of records to be anomalous — consistent with the proportion of holiday weeks across 3 years of data. Result: ~21,000 flagged records out of 421,570.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04157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06900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41570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Mitigation: retain anomalies as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15890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Rather than removing holiday-week anomalies (which would destroy valid signal), we retained them and added IsHoliday as an explicit feature in downstream models. Anomaly records inform rather than corrupt modelling.</a:t>
            </a:r>
          </a:p>
        </p:txBody>
      </p:sp>
      <p:pic>
        <p:nvPicPr>
          <p:cNvPr id="34" name="Picture 33" descr="out_98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706" y="1975105"/>
            <a:ext cx="4790918" cy="415137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59706" y="6117335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14: Isolation Forest output — orange points are flagged anomalies; holiday weeks and high-markdown events cluster as top anomalies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Anomaly Detection — Rolling Statistics &amp; EWMA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Detect time-based anomalies using statistical smoothing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Complement Isolation Forest with time-series-aware anomaly detection — identify points that deviate from the rolling trend rather than the global distribution.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Rolling window (30 periods) mean and std; EWMA with alpha=0.2; anomaly = point beyond rolling_mean ± 2×rolling_std; visualised with anomaly markers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Rolling Stats: flat baseline with discrete spikes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30-period rolling average confirms that the overall sales baseline is remarkably flat across the year. Anomalies (green dots) correspond precisely to holiday and markdown events — consistent with Isolation Forest findings.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48855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76287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48855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EWMA reveals seasonal structure more clearly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23175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Exponential Weighted Moving Average (α=0.2) gives more weight to recent observations — it smooths random noise while preserving the holiday spike signal. The EWMA trend shows seasonal spikes clearly distinct from the baseline.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22883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5626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2883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EWMA key finding: stable baseline with 3 annual spikes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0315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EWMA analysis shows that weekly retail sales follow a stable baseline with 3 major annual anomaly clusters: post-New Year spike, summer promotional events, and the major Nov–Dec holiday surge. This directly informs the seasonal component (s=52) in SARIMAX.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22982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25726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2982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Convergence: all 3 methods agree on holiday anomalies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0414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Descriptive stats, Isolation Forest, Rolling Stats, and EWMA all independently identify the same holiday and markdown weeks as anomalous — strong cross-validation that the findings are robust, not model-specific artefacts.</a:t>
            </a:r>
          </a:p>
        </p:txBody>
      </p:sp>
      <p:pic>
        <p:nvPicPr>
          <p:cNvPr id="34" name="Picture 33" descr="out_110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046644"/>
            <a:ext cx="5202936" cy="18928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59650" y="3797988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15: Rolling statistics — blue=sales, orange=30-period rolling mean; green dots = detected anomalies (holiday &amp; markdown weeks)</a:t>
            </a:r>
          </a:p>
        </p:txBody>
      </p:sp>
      <p:pic>
        <p:nvPicPr>
          <p:cNvPr id="36" name="Picture 35" descr="out_114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4" y="4163745"/>
            <a:ext cx="5349241" cy="20294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36208" y="6138852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16: EWMA (α=0.2) — smooth baseline (blue) with seasonal anomaly spikes; every green dot corresponds to a holiday or high-markdown week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Customer Segmentation — PCA Dimensionality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Reduce feature space before clustering to remove noise and multicollinearity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Apply PCA to normalised store/department features before KMeans — removing redundant dimensions that would distort cluster distance calculations and produce meaningless segments.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 err="1">
                <a:solidFill>
                  <a:srgbClr val="1D4F58"/>
                </a:solidFill>
                <a:latin typeface="Calibri"/>
              </a:rPr>
              <a:t>StandardScaler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 on numeric features (Size, CPI, Unemployment,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Fuel_Price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,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Weekly_Sales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,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MarkDown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 averages) → PCA(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n_components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=0.90) → explained variance plot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129852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33383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617297"/>
            <a:ext cx="64922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736169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763601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36169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Features selected for segmentation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10489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6 normalised features fed into PCA: Size (sq ft), CPI (zone average), Unemployment rate, Fuel_Price, Mean_Weekly_Sales, and Mean_MarkDown. These capture the store's physical profile, economic environment, and commercial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56235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58978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62356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90% variance captured in first 2–3 components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36676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PCA cumulative explained variance plot shows that the first 2–3 principal components capture approximately 90% of total variance. This justifies reducing to 2–3 dimensions for clustering without losing meaningful information.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415437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442869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15437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Multicollinearity resolved before clustering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89757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CPI and Unemployment are strongly negatively correlated (–0.74), and Fuel_Price and CPI are +0.82 correlated. PCA collapses these into uncorrelated principal components, preventing these correlated pairs from double-weighting the distance metric in KMeans.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281965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309397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81965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PCA applied separately for stores and departments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56285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PCA → KMeans pipeline was run independently on store-level aggregated data (45 stores) and department-level aggregated data (99 departments) to produce two distinct segmentation models.</a:t>
            </a:r>
          </a:p>
        </p:txBody>
      </p:sp>
      <p:pic>
        <p:nvPicPr>
          <p:cNvPr id="34" name="Picture 33" descr="out_130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1984248"/>
            <a:ext cx="4919472" cy="41925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67728" y="6117336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17: PCA explained variance — cumulative curve reaches 90% by component 2–3; justifies low-dimensional representation for clustering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Customer Segmentation — KMeans Clustering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Determine optimal number of clusters and validate segment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Find the optimal number of store clusters K, fit KMeans, and validate cluster quality using silhouette score — ensuring segments are genuinely distinct and not algorithmically forced.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WCSS computed for K=1 to 10 → Elbow Method; silhouette_score computed for K=2 to 8; KMeans(n_clusters=4, init='k-means++') fit on PCA-reduced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Elbow Method: optimal K=4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WCSS (Within-Cluster Sum of Squares) drops sharply until K=4, then flattens — the elbow. Adding more clusters beyond 4 does not meaningfully reduce intra-cluster variance. K=4 selected for store segmentation.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0851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3594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0851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Silhouette score confirms K=4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8283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silhouette score (measuring how similar each store is to its own cluster vs. neighbouring clusters) peaks at K=4 for stores and K=4 for departments — independent confirmation of the elbow result.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17504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02474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7504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KMeans++ initialisation used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49362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k-means++ initialisation was selected over random initialisation — it places initial centroids far apart, reducing the risk of local optima and producing more consistent cluster assignments across multiple runs.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04157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06900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4157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4 distinct store clusters identified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1589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final KMeans model assigns all 45 stores into 4 well-separated groups in PCA-reduced space. Cluster scatter plot shows clear separation with minimal overlap — validating that the 4 clusters represent genuinely different store profiles.</a:t>
            </a:r>
          </a:p>
        </p:txBody>
      </p:sp>
      <p:pic>
        <p:nvPicPr>
          <p:cNvPr id="34" name="Picture 33" descr="out_136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761" y="2002536"/>
            <a:ext cx="5925439" cy="202835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08776" y="3983555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18: Elbow curve (WCSS vs K) — sharp bend at K=4 identifies the optimal number of store clusters</a:t>
            </a:r>
          </a:p>
        </p:txBody>
      </p:sp>
      <p:pic>
        <p:nvPicPr>
          <p:cNvPr id="36" name="Picture 35" descr="out_152_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4202474"/>
            <a:ext cx="5596128" cy="19751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91072" y="6149340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19: </a:t>
            </a:r>
            <a:r>
              <a:rPr sz="950" b="0" i="1" dirty="0" err="1">
                <a:solidFill>
                  <a:srgbClr val="546E7A"/>
                </a:solidFill>
                <a:latin typeface="Calibri"/>
              </a:rPr>
              <a:t>KMeans</a:t>
            </a:r>
            <a:r>
              <a:rPr sz="950" b="0" i="1" dirty="0">
                <a:solidFill>
                  <a:srgbClr val="546E7A"/>
                </a:solidFill>
                <a:latin typeface="Calibri"/>
              </a:rPr>
              <a:t> cluster scatter (PCA space) — 4 </a:t>
            </a:r>
            <a:r>
              <a:rPr sz="950" b="0" i="1" dirty="0" err="1">
                <a:solidFill>
                  <a:srgbClr val="546E7A"/>
                </a:solidFill>
                <a:latin typeface="Calibri"/>
              </a:rPr>
              <a:t>colour</a:t>
            </a:r>
            <a:r>
              <a:rPr sz="950" b="0" i="1" dirty="0">
                <a:solidFill>
                  <a:srgbClr val="546E7A"/>
                </a:solidFill>
                <a:latin typeface="Calibri"/>
              </a:rPr>
              <a:t>-coded clusters show clear separation; each cluster represents a distinct store archetype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Store Cluster Profiles &amp; Marketing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What each cluster means — and what to do about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Interpret each of the 4 store clusters by examining their mean feature values — translate cluster statistics into actionable business strategies for each store group.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 err="1">
                <a:solidFill>
                  <a:srgbClr val="1D4F58"/>
                </a:solidFill>
                <a:latin typeface="Calibri"/>
              </a:rPr>
              <a:t>cluster_new_dummy.groupby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('label').mean() → per-cluster feature means; bar charts per cluster for CPI, Size,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Weekly_Sales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, Unemployment; business strategy derived from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149915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" y="2359152"/>
            <a:ext cx="91440" cy="86868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3957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Cluster 0 — Premium &amp; Luxury Stores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88336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15 stores | Highest CPI zone | Avg weekly sales: ~$11,848 | Largest footprint
Strategy: Premium product lines, luxury brand co-marketing, spacious store layout, high-end exclusive offerings. Inventory: diverse luxury SKUs, demand forecasting for premium items.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383280"/>
            <a:ext cx="9144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4198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Cluster 1 — Value-Oriented Mid-Range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12464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Mid-range size | Moderate sales | Above-average unemployment zone | Price-sensitive customers
Strategy: Loyalty rewards, budget-friendly promotions, local community engagement. Inventory: high-turnover value SKUs, tight replenishment cycles, minimal excess stock.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407408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44398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Cluster 2 — Budget &amp; Discount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36592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Smallest avg size | Lowest weekly sales | Highest markdown utilisation | Discount-seeking customers
Strategy: Clearance events, BOGO deals, seasonal price-off promotions, aggressive MarkDown1 deployment. Inventory: limited SKU range, high turnover, lean stock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431536"/>
            <a:ext cx="9144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Cluster 3 — Efficient Mid-Premium Stores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Balanced size &amp; sales | Sustainable growth profile | Mixed demographics
Strategy: Targeted cross-selling, digital campaigns, mixed inventory breadth. Benchmark: use these stores as pilots for new strategies before rolling out chain-wide.</a:t>
            </a:r>
          </a:p>
        </p:txBody>
      </p:sp>
      <p:pic>
        <p:nvPicPr>
          <p:cNvPr id="28" name="Picture 27" descr="out_165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36380"/>
            <a:ext cx="5596128" cy="378561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27648" y="5948172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20: Store cluster feature profiles — each cluster has a distinct CPI, Size, </a:t>
            </a:r>
            <a:r>
              <a:rPr sz="950" b="0" i="1" dirty="0" err="1">
                <a:solidFill>
                  <a:srgbClr val="546E7A"/>
                </a:solidFill>
                <a:latin typeface="Calibri"/>
              </a:rPr>
              <a:t>Weekly_Sales</a:t>
            </a:r>
            <a:r>
              <a:rPr sz="950" b="0" i="1" dirty="0">
                <a:solidFill>
                  <a:srgbClr val="546E7A"/>
                </a:solidFill>
                <a:latin typeface="Calibri"/>
              </a:rPr>
              <a:t> and Unemployment signature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Department Cluster Profiles &amp; Inventory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4 department archetypes — tailored stock and promotion plans for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Interpret department clusters the same way as store clusters — translate PCA+KMeans results into department-level inventory, layout, and marketing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1D4F58"/>
                </a:solidFill>
                <a:latin typeface="Calibri"/>
              </a:rPr>
              <a:t>Same PCA →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KMeans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 pipeline applied independently to 99 departments;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groupBy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('label').mean() for per-cluster dept feature profiles; elbow at K=4 for depts also</a:t>
            </a:r>
            <a:endParaRPr lang="en-US" sz="1150" b="1" i="0" dirty="0">
              <a:solidFill>
                <a:srgbClr val="1D4F58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" y="2359152"/>
            <a:ext cx="91440" cy="86868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3957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Cluster 0 — Sizeable Luxury Departments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88336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42 departments | Highest CPI zone | Avg weekly sales: ~$3,087 | Largest physical space
Strategy: Luxury product mix, premium display fixtures, demand forecasting for high-margin items, regular merchandise refresh aligned with consumer trends.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383280"/>
            <a:ext cx="9144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4198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Cluster 1 — Premium Select Departments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12464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Moderate size | Above-average sales density | Targeted enthusiast customer base
Strategy: Curated product range, enthusiast-focused promotions, cross-sell with adjacent Cluster 0 departments. Adjacent placement in store layout maximises basket size.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407408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44398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Cluster 2 — Elite Boutique Departments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36592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Smaller but high-value departments | Exclusive positioning | Low volume, high margin
Strategy: Boutique positioning, VIP programmes, personalised shopping experiences, exclusive limited-edition promotions. Focus on margin, not volume.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431536"/>
            <a:ext cx="9144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Cluster 3 — Volume-Driven Departments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High transaction volume | Lower margin per item | Fastest inventory turnover
Strategy: Optimise replenishment speed, automate reorder triggers, prioritise shelf availability over promotional depth. These departments drive footfall for the whole store.</a:t>
            </a:r>
          </a:p>
        </p:txBody>
      </p:sp>
      <p:pic>
        <p:nvPicPr>
          <p:cNvPr id="28" name="Picture 27" descr="out_184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112264"/>
            <a:ext cx="5596128" cy="40507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54496" y="6099048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21: Department cluster feature profiles — Cluster 0 highest sales &amp; CPI; Cluster 3 volume-driven with lower per-unit value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Market Basket Analysis — Apriori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Mine department associations to build cross-selling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Identify which departments are frequently purchased together within the same store-week — infer product associations that can be used for co-location, bundle promotions, and digital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Apriori algorithm (mlxtend library) on transaction matrix (each row = store-week, columns = departments with sales &gt; 0); filtered by min_support, min_confidence, min_lift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2061469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Parameters: Support=0.011, Confidence=0.80, Lift≥3.0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Minimum support of 0.011 means a department pair must co-occur in at least 1.1% of store-weeks. Confidence ≥ 80% ensures the rule holds 8 times in 10 when the antecedent is present. Lift ≥ 3 means the association is 3× stronger than random chance.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452915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480347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52915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Association rules reveal dept co-purchase clusters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27235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Association rules identify departments that reliably appear together in high-sales weeks. These clusters reflect underlying customer shopping behaviour — shoppers who visit Dept A are very likely to also buy from Dept B on the same trip.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35254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37997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5254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Cross-selling strategy 1: Store layout optimisation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2686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Departments with the highest lift scores should be physically adjacent in store — a customer browsing Dept A will naturally walk past associated Dept B, increasing average basket size without any promotional spend.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294375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321807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94375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Cross-selling strategy 2: Digital recommendations &amp; bundles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68695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Association rules directly power a recommendation engine: 'Customers who bought from Dept A also frequently visited Dept B.' Bundle promotions (buy from A, get discount on B) can be automatically generated from lift values.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1969526"/>
            <a:ext cx="5568696" cy="2161544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36208" y="1979325"/>
            <a:ext cx="5596128" cy="292608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2015901"/>
            <a:ext cx="5413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Apriori Parameters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2345085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Min Support: 0.011 (1.1% of store-weeks)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2692557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Min Confidence: 0.80 (80% rule strength)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3040029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Min Lift: 3.0 (3× above random chance)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3387501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Min Length: 2 (pairs or larger sets only)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3734973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Algorithm: Apriori (mlxtend library)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4269543"/>
            <a:ext cx="5596128" cy="2089757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36208" y="4297680"/>
            <a:ext cx="559612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27648" y="4334256"/>
            <a:ext cx="5413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Applications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663440"/>
            <a:ext cx="541324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1. Optimise physical dept adjacency in stores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5010912"/>
            <a:ext cx="541324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2. Build bundle promotions (A+B discounts)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5358384"/>
            <a:ext cx="541324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3. Power digital product recommendation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5705856"/>
            <a:ext cx="541324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4. Create holiday bundle campaigns (Thanksgiving etc.)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6053328"/>
            <a:ext cx="541324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5. Train sales staff on cross-sell opportunity pairs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Demand Forecasting — SARIMAX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Forecast weekly sales capturing seasonality and external economic drivers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Build a short-term weekly sales forecast that explicitly models seasonal patterns AND incorporates external economic regressors (CPI, Unemployment, Fuel_Price, Temperature) to improve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1D4F58"/>
                </a:solidFill>
                <a:latin typeface="Calibri"/>
              </a:rPr>
              <a:t>SARIMAX(order=(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p,d,q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),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seasonal_order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=(P,D,Q,52)) with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exog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=[Temperature, CPI,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Fuel_Price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, Unemployment,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IsHoliday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]; trained on 2010–2012, validated on 2012 holdout, forecast for 2013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41636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2212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504756"/>
            <a:ext cx="64922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63769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66512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637696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Model selection: seasonal order s=52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12016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Seasonal decomposition confirmed a strong weekly seasonal component with period s=52 (annual cycle). This fixed s=52 in the SARIMAX seasonal_order, reducing the parameter search space for (P,D,Q) significantly.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49512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52255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95124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External regressors: 5 economic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69444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CPI, Unemployment, Fuel_Price, Temperature, and IsHoliday included as exogenous variables. IsHoliday was particularly important — explicitly telling the model which weeks to expect spikes, rather than letting it infer from the pattern alone.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38068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40812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0688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SARIMAX strength: interpretable seasonal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55008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Unlike black-box models, SARIMAX coefficients directly show how much each economic variable shifts the weekly sales prediction — providing interpretability alongside forecasting accuracy.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18184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20927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81844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Validation: trained on 2010–2012, tested on 2012 holdout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56164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Model parameters were fitted on all available data through 2012. Performance evaluated on a held-out 2012 test set before generating the 2013 full-year forecast.</a:t>
            </a:r>
          </a:p>
        </p:txBody>
      </p:sp>
      <p:pic>
        <p:nvPicPr>
          <p:cNvPr id="34" name="Picture 33" descr="out_223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37576"/>
            <a:ext cx="5038344" cy="39245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31152" y="6063179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22: SARIMAX forecast vs actual (2012 test) — model accurately captures Nov–Dec holiday spike; some under-prediction on extreme peaks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Demand Forecasting — Holt-Winters &amp;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Two complementary approaches: exponential smoothing vs. ensemble ML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Build two additional forecasting models — Holt-Winters for long-horizon seasonal projection, Random Forest for non-linear relationship capture — then compare all three on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ExponentialSmoothing(trend='add', seasonal='add', seasonal_periods=52); RandomForestRegressor on lagged features + store attributes + economic indicators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Holt-Winters: triple exponential smoothing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Three separate smoothing equations for level, trend, and seasonality. Additive seasonality chosen (confirmed by seasonal decompose). Trained on first 120 weeks, tested on remainder. Best for long-horizon planning (full 2013 calendar year projection).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49512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52255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9512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Random Forest: non-linear feature interactions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6944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100-tree ensemble trained on: lag1, lag2, lag4 sales; store Type, Size; month, year, IsHoliday; CPI, Unemployment, Fuel_Price. Handles complex interaction effects that SARIMAX assumes away. Feature importance plot reveals Temperature and Fuel_Price as top external predictors.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549499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576931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49499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Seasonal decompose confirms additive seasonality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23819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Seasonal decomposition (multiplicative and additive) applied before model selection. Strong, stable additive seasonal component confirmed (approximately same magnitude each year) — validating the Holt-Winters additive choice over multiplicative.</a:t>
            </a:r>
          </a:p>
        </p:txBody>
      </p:sp>
      <p:pic>
        <p:nvPicPr>
          <p:cNvPr id="30" name="Picture 29" descr="out_257_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997960"/>
            <a:ext cx="5596128" cy="184251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36208" y="3858771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23: Holt-Winters 2013 full-year forecast — additive seasonal pattern carries forward; Nov–Dec spike projected with high confidence</a:t>
            </a:r>
          </a:p>
        </p:txBody>
      </p:sp>
      <p:pic>
        <p:nvPicPr>
          <p:cNvPr id="32" name="Picture 31" descr="out_260_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192524"/>
            <a:ext cx="5596128" cy="19705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36208" y="6155316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24: Random Forest feature importance — Temperature and </a:t>
            </a:r>
            <a:r>
              <a:rPr sz="950" b="0" i="1" dirty="0" err="1">
                <a:solidFill>
                  <a:srgbClr val="546E7A"/>
                </a:solidFill>
                <a:latin typeface="Calibri"/>
              </a:rPr>
              <a:t>Fuel_Price</a:t>
            </a:r>
            <a:r>
              <a:rPr sz="950" b="0" i="1" dirty="0">
                <a:solidFill>
                  <a:srgbClr val="546E7A"/>
                </a:solidFill>
                <a:latin typeface="Calibri"/>
              </a:rPr>
              <a:t> are the top external predictors of weekly sales volume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Demand Forecasting — Model Comparison &amp;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Which model to use for which forecasting horizon?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Compare SARIMAX, Holt-Winters, and Random Forest on their strengths, weaknesses, and best use cases — provide a clear recommendation for operational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1D4F58"/>
                </a:solidFill>
                <a:latin typeface="Calibri"/>
              </a:rPr>
              <a:t>MAE and RMSE computed on 2012 held-out test set for each model; feature importance from RF; coefficient analysis from SARIMAX; visual inspection of all forecast plots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56432"/>
            <a:ext cx="3703320" cy="24460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456431"/>
            <a:ext cx="3767328" cy="9144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529583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4F58"/>
                </a:solidFill>
                <a:latin typeface="Calibri"/>
              </a:rPr>
              <a:t>SARIMAX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1363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Best for: 1–4 week horizon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7939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Captures: Trend + seasonality + exogenous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4515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Strength: Interpretable; holiday-week explicit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1091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Weakness: Assumes linear 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7667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Verdict: Best for tactical weekly planning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456431"/>
            <a:ext cx="3694176" cy="2446021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60" y="3456431"/>
            <a:ext cx="3767328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529583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565C0"/>
                </a:solidFill>
                <a:latin typeface="Calibri"/>
              </a:rPr>
              <a:t>Holt-Winters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91363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Best for: Full-year (52-week) horizon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27939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Captures: Level + trend + additive seasonality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64515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Strength: Stable long-range seasonal projection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01091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Weakness: No external regressors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37667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Verdict: Best for annual budget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3456432"/>
            <a:ext cx="3639312" cy="24460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83880" y="3456431"/>
            <a:ext cx="376732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66760" y="3529583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Random 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1363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Best for: Complex multi-store patterns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27939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Captures: Non-linear interactions; feature effects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64515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Strength: Top external predictors: Temperature, Fuel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01091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Weakness: Less interpretable; needs feature engineering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376671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▸  Verdict: Best for store-level granular forecast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" y="5975250"/>
            <a:ext cx="11539728" cy="489557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47472" y="5975251"/>
            <a:ext cx="9144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606669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RECOMMENDATION: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066691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212121"/>
                </a:solidFill>
              </a:rPr>
              <a:t> 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:</a:t>
            </a:r>
            <a:r>
              <a:rPr lang="en-US" sz="1200" dirty="0">
                <a:solidFill>
                  <a:srgbClr val="212121"/>
                </a:solidFill>
                <a:latin typeface="Calibri"/>
              </a:rPr>
              <a:t>                                     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Use SARIMAX for weekly tactical orders, Holt-Winters for annual budget forecasting, and Random Forest when store-level or external factor precision is needed.</a:t>
            </a:r>
          </a:p>
        </p:txBody>
      </p:sp>
      <p:pic>
        <p:nvPicPr>
          <p:cNvPr id="44" name="Picture 43" descr="out_228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22933"/>
            <a:ext cx="11503152" cy="110150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20040" y="3120213"/>
            <a:ext cx="1150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25: Random Forest forecast — smoother predictions; captures long-term trend; Temperature &amp; </a:t>
            </a:r>
            <a:r>
              <a:rPr sz="950" b="0" i="1" dirty="0" err="1">
                <a:solidFill>
                  <a:srgbClr val="546E7A"/>
                </a:solidFill>
                <a:latin typeface="Calibri"/>
              </a:rPr>
              <a:t>Fuel_Price</a:t>
            </a:r>
            <a:r>
              <a:rPr sz="950" b="0" i="1" dirty="0">
                <a:solidFill>
                  <a:srgbClr val="546E7A"/>
                </a:solidFill>
                <a:latin typeface="Calibri"/>
              </a:rPr>
              <a:t> drive model accuracy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External Factors &amp; Impact on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Quantify how economic and climate indicators drive retail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Measure the predictive power of each external factor on weekly sales — determining which indicators most improve forecast accuracy when added as model regressors.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Random Forest feature_importances_ after training with/without external regressors; SARIMAX coefficient analysis; correlation analysis from EDA as baseline 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101716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2359152"/>
            <a:ext cx="5760720" cy="182880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359152"/>
            <a:ext cx="5760720" cy="73152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2505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F58"/>
                </a:solidFill>
                <a:latin typeface="Calibri"/>
              </a:rPr>
              <a:t>Temperature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283464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FINDING: Temperature is the strongest single external predictor (highest RF feature importance) of weekly sales.
IMPACT: Cold regions boost winter clothing/heating demand; summer heat drives appliance and outdoor equipment sales.
ACTION: Integrate regional weather forecasts into seasonal inventory build-up 6 weeks in advance.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359152"/>
            <a:ext cx="5760720" cy="182880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2359152"/>
            <a:ext cx="576072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2505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alibri"/>
              </a:rPr>
              <a:t>Consumer Price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83464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12121"/>
                </a:solidFill>
                <a:latin typeface="Calibri"/>
              </a:rPr>
              <a:t>FINDING: Rising CPI reduces real purchasing power — customers shift from premium to value-tier products.
IMPACT: High-CPI periods correlate with increased markdown </a:t>
            </a:r>
            <a:r>
              <a:rPr sz="1100" b="0" i="0" dirty="0" err="1">
                <a:solidFill>
                  <a:srgbClr val="212121"/>
                </a:solidFill>
                <a:latin typeface="Calibri"/>
              </a:rPr>
              <a:t>utilisation</a:t>
            </a:r>
            <a:r>
              <a:rPr sz="1100" b="0" i="0" dirty="0">
                <a:solidFill>
                  <a:srgbClr val="212121"/>
                </a:solidFill>
                <a:latin typeface="Calibri"/>
              </a:rPr>
              <a:t> in Cluster 1 and 2 stores.
ACTION: Trigger value-tier promotions automatically when regional CPI exceeds a set threshold.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370832"/>
            <a:ext cx="5760720" cy="182880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370832"/>
            <a:ext cx="5760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" y="45171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Unemployment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84632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FINDING: Higher unemployment compresses discretionary spending — affects Cluster 2 stores (budget) most.
IMPACT: Negatively correlated with both CPI and Fuel_Price — all 3 move together during economic downturns.
ACTION: Increase loyalty reward multipliers and discount depths in high-unemployment regions.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370832"/>
            <a:ext cx="5760720" cy="182880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4370832"/>
            <a:ext cx="576072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45171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Fuel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84632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FINDING: Rising fuel prices reduce consumer mobility — shoppers prefer nearby stores or online channels.
IMPACT: Affects Cluster 1/2 stores most; Cluster 0 (premium) customers are less price-sensitive to fuel.
ACTION: Promote click-and-collect fulfilment during fuel price spikes; budget extra for delivery logistics.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Conclusion, Strategy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What this project delivers and what comes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Integrated Retail Analytics  |  Store Optimization &amp; Demand Forecasting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Summarise all analytical findings into a coherent retail strategy and identify concrete future improvements for production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728216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148840"/>
            <a:ext cx="3767328" cy="4114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148840"/>
            <a:ext cx="3767328" cy="9144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21284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D4F58"/>
                </a:solidFill>
                <a:latin typeface="Calibri"/>
              </a:rPr>
              <a:t>Analytical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7860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20% holiday sales spike — seasonality is the dominant 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2724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Stores 20 &amp; 4: top earners; Stores 44, 33: bottom earners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K=4 clusters valid for both stores and departments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2452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Isolation Forest + Rolling Stats + EWMA: all agree on holiday anomalies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7316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Apriori: high-lift dept associations identify cross-sell pairs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2180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SARIMAX: best for weekly horizon; Holt-Winters: best for annual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148840"/>
            <a:ext cx="3767328" cy="4114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51960" y="2148840"/>
            <a:ext cx="376732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221284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Business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57860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Inventory: use SARIMAX weekly reorder points per store 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12724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Marketing: personalise campaigns by cluster (luxury vs. budget)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67588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Store layout: place high-lift Apriori depts adjacent to each other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22452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Holiday: trigger markdown 4 weeks before Thanksgiving/Christmas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77316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Cluster 0: premium SKUs; Cluster 2: high markdown depth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32180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Monitoring: track KPIs by cluster — not chain-wide averages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2148840"/>
            <a:ext cx="3767328" cy="4114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83880" y="2148840"/>
            <a:ext cx="3767328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221284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  <a:latin typeface="Calibri"/>
              </a:rPr>
              <a:t>Future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57860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Deploy Holt-Winters as a live weekly dashboard (auto-refresh)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12724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Expand Apriori to individual SKU-level transaction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67588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Integrate real-time CPI/weather API for continuous forecast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22452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A/B test cluster-specific strategies across matched store pairs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77316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Add SHAP explainability to Random Forest for store-level insights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321808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Build anomaly alert system: flag weeks &gt; 2σ from EWMA baseline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3347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0" i="0" dirty="0">
                <a:solidFill>
                  <a:srgbClr val="F59E0B"/>
                </a:solidFill>
                <a:latin typeface="Calibri"/>
              </a:rPr>
              <a:t>Questions &amp; Discussion Welcome</a:t>
            </a:r>
            <a:endParaRPr sz="2200" b="0" i="0" dirty="0">
              <a:solidFill>
                <a:srgbClr val="F59E0B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32004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Vishal Kumar Singh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020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  <a:latin typeface="Calibri"/>
              </a:rPr>
              <a:t>AlmaBetter  |  M.Sc. Data Science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28016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421K records — 45 stores, 99 depts, 3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865376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EDA: 20% holiday spike, Store 20 top earner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5059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Preprocessing: nulls, IQR capping, sqrt 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035808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Anomaly: Isolation Forest + Rolling + EWMA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621024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Segmentation: K=4 store &amp; dept clusters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20624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MBA: Apriori cross-sell associations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791456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Forecasting: SARIMAX + Holt-Winters + RF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6644</Words>
  <Application>Microsoft Office PowerPoint</Application>
  <PresentationFormat>Custom</PresentationFormat>
  <Paragraphs>526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Singh</cp:lastModifiedBy>
  <cp:revision>2</cp:revision>
  <dcterms:created xsi:type="dcterms:W3CDTF">2013-01-27T09:14:16Z</dcterms:created>
  <dcterms:modified xsi:type="dcterms:W3CDTF">2026-06-27T20:50:27Z</dcterms:modified>
  <cp:category/>
</cp:coreProperties>
</file>